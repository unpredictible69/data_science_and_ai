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1224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551C0-05BC-46D2-B902-DAC061790ED4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3E866B-B48C-417A-A53B-21F3D642D7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3889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3E866B-B48C-417A-A53B-21F3D642D76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6194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DEA00-B50D-E272-5300-7212234E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7E86B-396F-2D36-6F41-8DB5AABF44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BAE8D-D4D6-C235-5B2B-E6023C76D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859A4-95A6-CA96-7396-EDB31FA1F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241D5-BDAF-7F17-7CF0-430248671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01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631E5-4FF2-BE0C-65CF-8A3A61DBC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33F1C-916D-8341-0862-298C987BFF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697505-B11A-8951-439D-B0222EB7A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35606-F59A-9CF2-F033-93EBF59E0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27463-DE3F-894F-7361-DC8F00481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9662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110C-C6EE-F880-3DEF-D94C6878F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555C1-8F3F-23C1-5AE5-F3A5BAB39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0D73-5F4A-5153-A24A-BC8588083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E2D43-4DA8-D033-6595-47789C8E3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82584-66BF-CCFB-DE4D-C2490D9C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31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F3BEF-2BF2-5684-C2EA-6B1F0E1BA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62BE2-E093-D933-A5F1-81886830B9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9848E1-6CF8-CECD-C065-CE126D076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08AE5-AE17-CE58-49B6-63E99F0BF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D0B7B-13B6-784B-7299-83433CBB4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CB297-8FAF-2BAF-F59C-D5F877D7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389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5F861-A606-2E7F-4C26-57253BA9E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99FB2E-002A-9D91-CF07-160CCBFF6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F94FE7-E774-4B96-021E-1464FA6A5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EF28A-B2B7-6A7F-A07A-6176A92FC1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52D95-63B9-A7AB-DBA5-62196D88F7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81A5F1-D768-2619-A5B4-53D20B0F2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B6B-800B-1318-CF04-D18EE43BF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F67177-7CF4-6691-210F-5BFB52C26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21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BC86A-4518-CF1B-8D57-8061E1FAD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11DEC2-C6A1-7B7F-D613-CF4BD6565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9EF3A-70CB-C5EE-017C-181298C85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7C9AF-E58B-FC23-44EF-355F429E2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038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81A6F0-B3DA-7B22-0AC2-89320E66E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6E5692-2E17-D02F-D8FD-036DCE29F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865AE-A2C7-72EE-E574-2273005B1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7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CB243-5F81-9D3A-7254-BEF77D159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0F0E8-D7D6-EE07-59A2-89FBC7255A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C8F63A-34EF-571B-031B-BD66CEEE41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DE70A-89FD-9B1E-9731-4B0D229C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5EAAE-469E-68DC-4489-53440EEB1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7C2FF-6AEB-4E48-FA45-2E517BF01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155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E551-6D2E-7A0A-86F2-8BB62CE7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4467D5-EEF0-21DE-77BA-A16EBF68B6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CA0CC-48EB-3DE8-9E34-D270C209E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5B3A7-F9E7-5031-1494-3AEA345D5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5D0BA0-F031-E0AA-FBCC-E3807BE8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41838-56E0-502A-EEB9-F6DE9456E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766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C457D-67EA-512A-8869-F24094D4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53DDA4-ED5A-9927-B741-6B7ECB99B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4570B-9EDC-D323-4B93-9EDD6B947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B29C3-8246-C7E1-76A1-2D96E6809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1CD6A-3331-77B9-DA68-12E43D5C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8775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4FC8C2-FAEC-9286-942C-47911AC92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10CF54-6E02-D583-9D19-B9036E6F5C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A4FCE-C2C6-D39D-BFF8-022A3D8E8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999A4-79E1-576D-A7FA-3BCE9BC01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1CCBFF-B38E-A546-D368-AAA19C44E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00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4172C3-CB88-CEF1-9DB7-4E208DF85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23C0F-81CC-0F11-CF35-88661D8DA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12374-A9B0-82A0-E78F-E56FED061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C7D6DB-CF9C-489F-9653-57F2CDBA64AE}" type="datetimeFigureOut">
              <a:rPr lang="en-US" smtClean="0"/>
              <a:t>8/14/2025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9BC51-C334-BA8A-151F-6CDC408E1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15F4F-3C0D-F84B-8A41-E9C20BB1E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7D2E3-775C-4D1E-AE07-949DADF400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73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3" Type="http://schemas.openxmlformats.org/officeDocument/2006/relationships/hyperlink" Target="https://www.w3schools.com/python/ref_string_isalnum.asp" TargetMode="External"/><Relationship Id="rId18" Type="http://schemas.openxmlformats.org/officeDocument/2006/relationships/hyperlink" Target="https://www.w3schools.com/python/ref_string_isidentifier.asp" TargetMode="External"/><Relationship Id="rId26" Type="http://schemas.openxmlformats.org/officeDocument/2006/relationships/hyperlink" Target="https://www.w3schools.com/python/ref_string_ljust.asp" TargetMode="External"/><Relationship Id="rId39" Type="http://schemas.openxmlformats.org/officeDocument/2006/relationships/hyperlink" Target="https://www.w3schools.com/python/ref_string_splitlines.asp" TargetMode="External"/><Relationship Id="rId21" Type="http://schemas.openxmlformats.org/officeDocument/2006/relationships/hyperlink" Target="https://www.w3schools.com/python/ref_string_isprintable.asp" TargetMode="External"/><Relationship Id="rId34" Type="http://schemas.openxmlformats.org/officeDocument/2006/relationships/hyperlink" Target="https://www.w3schools.com/python/ref_string_rjust.asp" TargetMode="External"/><Relationship Id="rId42" Type="http://schemas.openxmlformats.org/officeDocument/2006/relationships/hyperlink" Target="https://www.w3schools.com/python/ref_string_swapcase.asp" TargetMode="External"/><Relationship Id="rId7" Type="http://schemas.openxmlformats.org/officeDocument/2006/relationships/hyperlink" Target="https://www.w3schools.com/python/ref_string_encode.asp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s://www.w3schools.com/python/ref_string_isdecimal.asp" TargetMode="External"/><Relationship Id="rId29" Type="http://schemas.openxmlformats.org/officeDocument/2006/relationships/hyperlink" Target="https://www.w3schools.com/python/ref_string_maketran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python/ref_string_count.asp" TargetMode="External"/><Relationship Id="rId11" Type="http://schemas.openxmlformats.org/officeDocument/2006/relationships/hyperlink" Target="https://www.w3schools.com/python/ref_string_format.asp" TargetMode="External"/><Relationship Id="rId24" Type="http://schemas.openxmlformats.org/officeDocument/2006/relationships/hyperlink" Target="https://www.w3schools.com/python/ref_string_isupper.asp" TargetMode="External"/><Relationship Id="rId32" Type="http://schemas.openxmlformats.org/officeDocument/2006/relationships/hyperlink" Target="https://www.w3schools.com/python/ref_string_rfind.asp" TargetMode="External"/><Relationship Id="rId37" Type="http://schemas.openxmlformats.org/officeDocument/2006/relationships/hyperlink" Target="https://www.w3schools.com/python/ref_string_rstrip.asp" TargetMode="External"/><Relationship Id="rId40" Type="http://schemas.openxmlformats.org/officeDocument/2006/relationships/hyperlink" Target="https://www.w3schools.com/python/ref_string_startswith.asp" TargetMode="External"/><Relationship Id="rId45" Type="http://schemas.openxmlformats.org/officeDocument/2006/relationships/hyperlink" Target="https://www.w3schools.com/python/ref_string_upper.asp" TargetMode="External"/><Relationship Id="rId5" Type="http://schemas.openxmlformats.org/officeDocument/2006/relationships/hyperlink" Target="https://www.w3schools.com/python/ref_string_center.asp" TargetMode="External"/><Relationship Id="rId15" Type="http://schemas.openxmlformats.org/officeDocument/2006/relationships/hyperlink" Target="https://www.w3schools.com/python/ref_string_isascii.asp" TargetMode="External"/><Relationship Id="rId23" Type="http://schemas.openxmlformats.org/officeDocument/2006/relationships/hyperlink" Target="https://www.w3schools.com/python/ref_string_istitle.asp" TargetMode="External"/><Relationship Id="rId28" Type="http://schemas.openxmlformats.org/officeDocument/2006/relationships/hyperlink" Target="https://www.w3schools.com/python/ref_string_lstrip.asp" TargetMode="External"/><Relationship Id="rId36" Type="http://schemas.openxmlformats.org/officeDocument/2006/relationships/hyperlink" Target="https://www.w3schools.com/python/ref_string_rsplit.asp" TargetMode="External"/><Relationship Id="rId10" Type="http://schemas.openxmlformats.org/officeDocument/2006/relationships/hyperlink" Target="https://www.w3schools.com/python/ref_string_find.asp" TargetMode="External"/><Relationship Id="rId19" Type="http://schemas.openxmlformats.org/officeDocument/2006/relationships/hyperlink" Target="https://www.w3schools.com/python/ref_string_islower.asp" TargetMode="External"/><Relationship Id="rId31" Type="http://schemas.openxmlformats.org/officeDocument/2006/relationships/hyperlink" Target="https://www.w3schools.com/python/ref_string_replace.asp" TargetMode="External"/><Relationship Id="rId44" Type="http://schemas.openxmlformats.org/officeDocument/2006/relationships/hyperlink" Target="https://www.w3schools.com/python/ref_string_translate.asp" TargetMode="External"/><Relationship Id="rId4" Type="http://schemas.openxmlformats.org/officeDocument/2006/relationships/hyperlink" Target="https://www.w3schools.com/python/ref_string_casefold.asp" TargetMode="External"/><Relationship Id="rId9" Type="http://schemas.openxmlformats.org/officeDocument/2006/relationships/hyperlink" Target="https://www.w3schools.com/python/ref_string_expandtabs.asp" TargetMode="External"/><Relationship Id="rId14" Type="http://schemas.openxmlformats.org/officeDocument/2006/relationships/hyperlink" Target="https://www.w3schools.com/python/ref_string_isalpha.asp" TargetMode="External"/><Relationship Id="rId22" Type="http://schemas.openxmlformats.org/officeDocument/2006/relationships/hyperlink" Target="https://www.w3schools.com/python/ref_string_isspace.asp" TargetMode="External"/><Relationship Id="rId27" Type="http://schemas.openxmlformats.org/officeDocument/2006/relationships/hyperlink" Target="https://www.w3schools.com/python/ref_string_lower.asp" TargetMode="External"/><Relationship Id="rId30" Type="http://schemas.openxmlformats.org/officeDocument/2006/relationships/hyperlink" Target="https://www.w3schools.com/python/ref_string_partition.asp" TargetMode="External"/><Relationship Id="rId35" Type="http://schemas.openxmlformats.org/officeDocument/2006/relationships/hyperlink" Target="https://www.w3schools.com/python/ref_string_rpartition.asp" TargetMode="External"/><Relationship Id="rId43" Type="http://schemas.openxmlformats.org/officeDocument/2006/relationships/hyperlink" Target="https://www.w3schools.com/python/ref_string_title.asp" TargetMode="External"/><Relationship Id="rId8" Type="http://schemas.openxmlformats.org/officeDocument/2006/relationships/hyperlink" Target="https://www.w3schools.com/python/ref_string_endswith.asp" TargetMode="External"/><Relationship Id="rId3" Type="http://schemas.openxmlformats.org/officeDocument/2006/relationships/hyperlink" Target="https://www.w3schools.com/python/ref_string_capitalize.asp" TargetMode="External"/><Relationship Id="rId12" Type="http://schemas.openxmlformats.org/officeDocument/2006/relationships/hyperlink" Target="https://www.w3schools.com/python/ref_string_index.asp" TargetMode="External"/><Relationship Id="rId17" Type="http://schemas.openxmlformats.org/officeDocument/2006/relationships/hyperlink" Target="https://www.w3schools.com/python/ref_string_isdigit.asp" TargetMode="External"/><Relationship Id="rId25" Type="http://schemas.openxmlformats.org/officeDocument/2006/relationships/hyperlink" Target="https://www.w3schools.com/python/ref_string_join.asp" TargetMode="External"/><Relationship Id="rId33" Type="http://schemas.openxmlformats.org/officeDocument/2006/relationships/hyperlink" Target="https://www.w3schools.com/python/ref_string_rindex.asp" TargetMode="External"/><Relationship Id="rId38" Type="http://schemas.openxmlformats.org/officeDocument/2006/relationships/hyperlink" Target="https://www.w3schools.com/python/ref_string_split.asp" TargetMode="External"/><Relationship Id="rId46" Type="http://schemas.openxmlformats.org/officeDocument/2006/relationships/hyperlink" Target="https://www.w3schools.com/python/ref_string_zfill.asp" TargetMode="External"/><Relationship Id="rId20" Type="http://schemas.openxmlformats.org/officeDocument/2006/relationships/hyperlink" Target="https://www.w3schools.com/python/ref_string_isnumeric.asp" TargetMode="External"/><Relationship Id="rId41" Type="http://schemas.openxmlformats.org/officeDocument/2006/relationships/hyperlink" Target="https://www.w3schools.com/python/ref_string_strip.asp" TargetMode="Externa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F6DB75-B98F-1923-D725-00A11FE5E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3810" y="2960716"/>
            <a:ext cx="4036334" cy="2387600"/>
          </a:xfrm>
        </p:spPr>
        <p:txBody>
          <a:bodyPr anchor="t">
            <a:normAutofit/>
          </a:bodyPr>
          <a:lstStyle/>
          <a:p>
            <a:pPr algn="l"/>
            <a:r>
              <a:rPr lang="en-US" sz="5400" dirty="0"/>
              <a:t>Python Basics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215E9C-F517-3817-D33B-C26D46F18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597" y="666728"/>
            <a:ext cx="546579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790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58CA2-A662-D24F-4148-B1309D656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Agendas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2A321-A379-70A3-97A6-C92772145C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Comments</a:t>
            </a:r>
          </a:p>
          <a:p>
            <a:r>
              <a:rPr lang="en-US" sz="2000" dirty="0"/>
              <a:t>Variables</a:t>
            </a:r>
          </a:p>
          <a:p>
            <a:r>
              <a:rPr lang="en-US" sz="2000" dirty="0"/>
              <a:t>Data types</a:t>
            </a:r>
          </a:p>
          <a:p>
            <a:r>
              <a:rPr lang="en-US" sz="2000"/>
              <a:t>Operators</a:t>
            </a:r>
            <a:endParaRPr lang="en-US" sz="20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E4238731-D392-6E17-EB08-2AE8DA0E8B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r="40186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79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55A9CE-E82E-88B8-48FE-872BDB18B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Comments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31F60-FEEB-3390-7A08-78C7509F5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454300"/>
          </a:xfrm>
        </p:spPr>
        <p:txBody>
          <a:bodyPr>
            <a:normAutofit/>
          </a:bodyPr>
          <a:lstStyle/>
          <a:p>
            <a:r>
              <a:rPr lang="en-US" sz="1700">
                <a:solidFill>
                  <a:schemeClr val="bg1">
                    <a:alpha val="80000"/>
                  </a:schemeClr>
                </a:solidFill>
              </a:rPr>
              <a:t>Comments can be used to explain Python code.</a:t>
            </a:r>
          </a:p>
          <a:p>
            <a:r>
              <a:rPr lang="en-US" sz="1700">
                <a:solidFill>
                  <a:schemeClr val="bg1">
                    <a:alpha val="80000"/>
                  </a:schemeClr>
                </a:solidFill>
              </a:rPr>
              <a:t>Comments can be used to make the code more readable.</a:t>
            </a:r>
          </a:p>
          <a:p>
            <a:r>
              <a:rPr lang="en-US" sz="1700">
                <a:solidFill>
                  <a:schemeClr val="bg1">
                    <a:alpha val="80000"/>
                  </a:schemeClr>
                </a:solidFill>
              </a:rPr>
              <a:t>Comments can be used to prevent execution when testing code.</a:t>
            </a:r>
          </a:p>
          <a:p>
            <a:r>
              <a:rPr lang="en-US" sz="1700">
                <a:solidFill>
                  <a:schemeClr val="bg1">
                    <a:alpha val="80000"/>
                  </a:schemeClr>
                </a:solidFill>
              </a:rPr>
              <a:t>Comments starts with a #, and Python will ignore them.</a:t>
            </a:r>
          </a:p>
          <a:p>
            <a:endParaRPr lang="en-US" sz="1700">
              <a:solidFill>
                <a:schemeClr val="bg1">
                  <a:alpha val="80000"/>
                </a:schemeClr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E3F87-3D58-4B03-86B2-15A5C5B9C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841376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4D09509-F6FC-47A6-B196-CCCFD8E830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BA5B9D66-192D-4F12-964D-2B23A1D275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C9C14E68-C469-4A71-AF08-169DB545FC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2C18990-7F62-45E8-B68F-47E95E4812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AC206BB2-3759-4DF0-9932-7445B6367A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381FA6FA-3CB6-4F57-8871-82DDE5BE8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4DFE601-48E1-EE64-AD92-00E5B8302C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1932" y="2307035"/>
            <a:ext cx="4369112" cy="115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092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9993A-F335-7649-2A6D-BA2BB7CED3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Variables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90A74-2044-C11B-2587-FB3FB6E8A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Variables are containers for storing data values.</a:t>
            </a:r>
          </a:p>
          <a:p>
            <a:r>
              <a:rPr lang="en-US" dirty="0"/>
              <a:t>A variable is created the moment you first assign a value to it.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5EF1-D551-4F71-9DCA-3B6786484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909" y="3203656"/>
            <a:ext cx="1438275" cy="73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7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A2A25-6E55-6642-C0D7-32016185E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3A1DEE-210A-B8C6-D8BB-F44835A710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variable can have a short name (like x and y) or a more descriptive name (age, </a:t>
            </a:r>
            <a:r>
              <a:rPr lang="en-US" dirty="0" err="1"/>
              <a:t>carname</a:t>
            </a:r>
            <a:r>
              <a:rPr lang="en-US" dirty="0"/>
              <a:t>, </a:t>
            </a:r>
            <a:r>
              <a:rPr lang="en-US" dirty="0" err="1"/>
              <a:t>total_volume</a:t>
            </a:r>
            <a:r>
              <a:rPr lang="en-US" dirty="0"/>
              <a:t>).</a:t>
            </a:r>
          </a:p>
          <a:p>
            <a:r>
              <a:rPr lang="en-US" dirty="0"/>
              <a:t>Rules for Python variables:</a:t>
            </a:r>
          </a:p>
          <a:p>
            <a:pPr lvl="1"/>
            <a:r>
              <a:rPr lang="en-US" dirty="0"/>
              <a:t>A variable name must start with a letter or the underscore character</a:t>
            </a:r>
          </a:p>
          <a:p>
            <a:pPr lvl="1"/>
            <a:r>
              <a:rPr lang="en-US" dirty="0"/>
              <a:t>A variable name cannot start with a number. Eg: </a:t>
            </a:r>
            <a:r>
              <a:rPr lang="en-US" strike="sngStrike" dirty="0"/>
              <a:t>1name</a:t>
            </a:r>
            <a:r>
              <a:rPr lang="en-US" dirty="0"/>
              <a:t>, </a:t>
            </a:r>
            <a:r>
              <a:rPr lang="en-US" strike="sngStrike" dirty="0"/>
              <a:t>2th</a:t>
            </a:r>
          </a:p>
          <a:p>
            <a:pPr lvl="1"/>
            <a:r>
              <a:rPr lang="en-US" dirty="0"/>
              <a:t>A variable name can only contain alpha-numeric characters and underscores (A-z, 0-9, and _ )</a:t>
            </a:r>
          </a:p>
          <a:p>
            <a:pPr lvl="1"/>
            <a:r>
              <a:rPr lang="en-US" dirty="0"/>
              <a:t>Variable names are case-sensitive (age, Age and AGE are three different variables)</a:t>
            </a:r>
          </a:p>
          <a:p>
            <a:pPr lvl="1"/>
            <a:r>
              <a:rPr lang="en-US" dirty="0"/>
              <a:t>A variable name cannot be any of the Python keywords.</a:t>
            </a:r>
          </a:p>
          <a:p>
            <a:pPr lvl="2"/>
            <a:r>
              <a:rPr lang="en-US" dirty="0"/>
              <a:t>Eg: and, as assert, break, class, def, continue, del, if, </a:t>
            </a:r>
            <a:r>
              <a:rPr lang="en-US" dirty="0" err="1"/>
              <a:t>elif</a:t>
            </a:r>
            <a:r>
              <a:rPr lang="en-US" dirty="0"/>
              <a:t>, else, try, except, for, is, pass, True, False, while, yield, with, return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120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1B37-E6A5-7C07-42F6-316D35D6D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Python Variables - </a:t>
            </a:r>
            <a:r>
              <a:rPr lang="fr-FR" dirty="0" err="1"/>
              <a:t>Assign</a:t>
            </a:r>
            <a:r>
              <a:rPr lang="fr-FR" dirty="0"/>
              <a:t> Multiple Values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A5DA1-3EF9-E9DA-8615-ED7F6829F9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allows you to assign values to multiple variables in one line: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DF63E3-9D68-8C0E-8310-DA19471DE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2862" y="3243262"/>
            <a:ext cx="4286250" cy="37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459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FC184-A247-21C5-1CE1-AB8D44EF4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8221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Variables can store data of different types, and different types can do different things.</a:t>
            </a:r>
          </a:p>
          <a:p>
            <a:r>
              <a:rPr lang="en-US" sz="2400" dirty="0"/>
              <a:t>You can get the data type of any object by using the type() function:</a:t>
            </a:r>
          </a:p>
          <a:p>
            <a:r>
              <a:rPr lang="en-US" sz="2400" dirty="0"/>
              <a:t>Python has the following data types built-in by default, in these categories:</a:t>
            </a:r>
          </a:p>
          <a:p>
            <a:endParaRPr lang="en-US" sz="2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CE5E550-15F0-8BB2-EDD2-5532B2303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680" y="106916"/>
            <a:ext cx="10515600" cy="1325563"/>
          </a:xfrm>
        </p:spPr>
        <p:txBody>
          <a:bodyPr/>
          <a:lstStyle/>
          <a:p>
            <a:r>
              <a:rPr lang="en-US" dirty="0"/>
              <a:t>Python Data Types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B68E9B-37B0-7B5C-6A6B-E3919437E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906887"/>
              </p:ext>
            </p:extLst>
          </p:nvPr>
        </p:nvGraphicFramePr>
        <p:xfrm>
          <a:off x="2996244" y="3249105"/>
          <a:ext cx="5860080" cy="322580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791513">
                  <a:extLst>
                    <a:ext uri="{9D8B030D-6E8A-4147-A177-3AD203B41FA5}">
                      <a16:colId xmlns:a16="http://schemas.microsoft.com/office/drawing/2014/main" val="3317406536"/>
                    </a:ext>
                  </a:extLst>
                </a:gridCol>
                <a:gridCol w="4068567">
                  <a:extLst>
                    <a:ext uri="{9D8B030D-6E8A-4147-A177-3AD203B41FA5}">
                      <a16:colId xmlns:a16="http://schemas.microsoft.com/office/drawing/2014/main" val="2876190055"/>
                    </a:ext>
                  </a:extLst>
                </a:gridCol>
              </a:tblGrid>
              <a:tr h="24796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Text Type: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solidFill>
                            <a:srgbClr val="DC143C"/>
                          </a:solidFill>
                          <a:effectLst/>
                        </a:rPr>
                        <a:t>str</a:t>
                      </a:r>
                      <a:endParaRPr lang="en-US" sz="1600" dirty="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4224818861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Numeric Types: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int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float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complex</a:t>
                      </a:r>
                      <a:endParaRPr lang="en-US" sz="160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1724467227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Sequence Types: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solidFill>
                            <a:srgbClr val="DC143C"/>
                          </a:solidFill>
                          <a:effectLst/>
                        </a:rPr>
                        <a:t>list</a:t>
                      </a:r>
                      <a:r>
                        <a:rPr lang="en-US" sz="1600" dirty="0">
                          <a:effectLst/>
                        </a:rPr>
                        <a:t>, </a:t>
                      </a:r>
                      <a:r>
                        <a:rPr lang="en-US" sz="1600" dirty="0">
                          <a:solidFill>
                            <a:srgbClr val="DC143C"/>
                          </a:solidFill>
                          <a:effectLst/>
                        </a:rPr>
                        <a:t>tuple</a:t>
                      </a:r>
                      <a:r>
                        <a:rPr lang="en-US" sz="1600" dirty="0">
                          <a:effectLst/>
                        </a:rPr>
                        <a:t>, </a:t>
                      </a:r>
                      <a:r>
                        <a:rPr lang="en-US" sz="1600" dirty="0">
                          <a:solidFill>
                            <a:srgbClr val="DC143C"/>
                          </a:solidFill>
                          <a:effectLst/>
                        </a:rPr>
                        <a:t>range</a:t>
                      </a:r>
                      <a:endParaRPr lang="en-US" sz="1600" dirty="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1271866903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Mapping Type: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 err="1">
                          <a:solidFill>
                            <a:srgbClr val="DC143C"/>
                          </a:solidFill>
                          <a:effectLst/>
                        </a:rPr>
                        <a:t>dict</a:t>
                      </a:r>
                      <a:endParaRPr lang="en-US" sz="1600" dirty="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2427542610"/>
                  </a:ext>
                </a:extLst>
              </a:tr>
              <a:tr h="24796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Set Types: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solidFill>
                            <a:srgbClr val="DC143C"/>
                          </a:solidFill>
                          <a:effectLst/>
                        </a:rPr>
                        <a:t>set</a:t>
                      </a:r>
                      <a:r>
                        <a:rPr lang="en-US" sz="1600" dirty="0">
                          <a:effectLst/>
                        </a:rPr>
                        <a:t>, </a:t>
                      </a:r>
                      <a:r>
                        <a:rPr lang="en-US" sz="1600" dirty="0" err="1">
                          <a:solidFill>
                            <a:srgbClr val="DC143C"/>
                          </a:solidFill>
                          <a:effectLst/>
                        </a:rPr>
                        <a:t>frozenset</a:t>
                      </a:r>
                      <a:endParaRPr lang="en-US" sz="1600" dirty="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605739585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Boolean Type: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bool</a:t>
                      </a:r>
                      <a:endParaRPr lang="en-US" sz="160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2314231319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effectLst/>
                        </a:rPr>
                        <a:t>Binary Types: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bytes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bytearray</a:t>
                      </a:r>
                      <a:r>
                        <a:rPr lang="en-US" sz="1600">
                          <a:effectLst/>
                        </a:rPr>
                        <a:t>, </a:t>
                      </a:r>
                      <a:r>
                        <a:rPr lang="en-US" sz="1600">
                          <a:solidFill>
                            <a:srgbClr val="DC143C"/>
                          </a:solidFill>
                          <a:effectLst/>
                        </a:rPr>
                        <a:t>memoryview</a:t>
                      </a:r>
                      <a:endParaRPr lang="en-US" sz="160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4117604626"/>
                  </a:ext>
                </a:extLst>
              </a:tr>
              <a:tr h="41963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>
                          <a:effectLst/>
                        </a:rPr>
                        <a:t>None Type:</a:t>
                      </a:r>
                    </a:p>
                  </a:txBody>
                  <a:tcPr marL="110160" marR="55080" marT="55080" marB="5508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600" dirty="0" err="1">
                          <a:solidFill>
                            <a:srgbClr val="DC143C"/>
                          </a:solidFill>
                          <a:effectLst/>
                        </a:rPr>
                        <a:t>NoneType</a:t>
                      </a:r>
                      <a:endParaRPr lang="en-US" sz="1600" dirty="0">
                        <a:effectLst/>
                      </a:endParaRPr>
                    </a:p>
                  </a:txBody>
                  <a:tcPr marL="55080" marR="55080" marT="55080" marB="55080"/>
                </a:tc>
                <a:extLst>
                  <a:ext uri="{0D108BD9-81ED-4DB2-BD59-A6C34878D82A}">
                    <a16:rowId xmlns:a16="http://schemas.microsoft.com/office/drawing/2014/main" val="1141127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392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0FEB71F-22DD-500F-A7A0-411FB12C89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1765519"/>
              </p:ext>
            </p:extLst>
          </p:nvPr>
        </p:nvGraphicFramePr>
        <p:xfrm>
          <a:off x="1705297" y="457200"/>
          <a:ext cx="8781406" cy="5943600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6084448">
                  <a:extLst>
                    <a:ext uri="{9D8B030D-6E8A-4147-A177-3AD203B41FA5}">
                      <a16:colId xmlns:a16="http://schemas.microsoft.com/office/drawing/2014/main" val="3304184679"/>
                    </a:ext>
                  </a:extLst>
                </a:gridCol>
                <a:gridCol w="2696958">
                  <a:extLst>
                    <a:ext uri="{9D8B030D-6E8A-4147-A177-3AD203B41FA5}">
                      <a16:colId xmlns:a16="http://schemas.microsoft.com/office/drawing/2014/main" val="2197459794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  <a:effectLst/>
                        </a:rPr>
                        <a:t>Example</a:t>
                      </a:r>
                    </a:p>
                  </a:txBody>
                  <a:tcPr marL="102025" marR="25339" marT="78481" marB="7848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b="0" cap="none" spc="0">
                          <a:solidFill>
                            <a:schemeClr val="bg1"/>
                          </a:solidFill>
                          <a:effectLst/>
                        </a:rPr>
                        <a:t>Data Type</a:t>
                      </a:r>
                    </a:p>
                  </a:txBody>
                  <a:tcPr marL="102025" marR="25339" marT="78481" marB="7848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026217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"Hello World"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str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8457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20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int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100253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20.5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float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48752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1j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complex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0010848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["apple", "banana", "cherry"]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list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9035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("apple", "banana", "cherry")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tuple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6353885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range(6)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range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126657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{"name" : "John", "age" : 36}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dict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1905554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{"apple", "banana", "cherry"}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set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439889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frozenset({"apple", "banana", "cherry"})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frozenset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85297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True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bool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5652747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b"Hello"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bytes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029636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bytearray(5)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bytearray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26917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memoryview(bytes(5))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</a:rPr>
                        <a:t>memoryview</a:t>
                      </a: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72863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>
                          <a:solidFill>
                            <a:schemeClr val="bg1"/>
                          </a:solidFill>
                          <a:effectLst/>
                          <a:latin typeface="Consolas" panose="020B0609020204030204" pitchFamily="49" charset="0"/>
                        </a:rPr>
                        <a:t>x = None</a:t>
                      </a:r>
                    </a:p>
                  </a:txBody>
                  <a:tcPr marL="102025" marR="25339" marT="78481" marB="78481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cap="none" spc="0" err="1">
                          <a:solidFill>
                            <a:schemeClr val="bg1"/>
                          </a:solidFill>
                          <a:effectLst/>
                        </a:rPr>
                        <a:t>NoneType</a:t>
                      </a:r>
                      <a:endParaRPr lang="en-US" sz="1200" cap="none" spc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102025" marR="25339" marT="78481" marB="78481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007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85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54921-65F3-09B8-EF6D-D70C0282D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9017D6-915E-489A-B5E2-1B15011AE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three numeric types in Python:</a:t>
            </a:r>
          </a:p>
          <a:p>
            <a:pPr lvl="1"/>
            <a:r>
              <a:rPr lang="en-US" dirty="0"/>
              <a:t>int</a:t>
            </a:r>
          </a:p>
          <a:p>
            <a:pPr lvl="1"/>
            <a:r>
              <a:rPr lang="en-US" dirty="0"/>
              <a:t>float</a:t>
            </a:r>
          </a:p>
          <a:p>
            <a:pPr lvl="1"/>
            <a:r>
              <a:rPr lang="en-US" dirty="0"/>
              <a:t>complex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AE6F74-F887-9DE3-F730-A1C12C6C0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571" y="2563402"/>
            <a:ext cx="22479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901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0D73F-37BF-2DCF-A0EF-54AA09134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Type 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7B0BD-5AB1-D591-8C93-A7FC8BF5E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 type casting means changing data type object to other type.</a:t>
            </a:r>
          </a:p>
          <a:p>
            <a:pPr lvl="1"/>
            <a:r>
              <a:rPr lang="en-US" dirty="0"/>
              <a:t>While type casting the value must be valid otherwise it will throw an errors.</a:t>
            </a:r>
          </a:p>
          <a:p>
            <a:pPr lvl="1"/>
            <a:r>
              <a:rPr lang="en-US" dirty="0"/>
              <a:t>For example:</a:t>
            </a:r>
          </a:p>
          <a:p>
            <a:pPr lvl="2"/>
            <a:r>
              <a:rPr lang="en-US" dirty="0"/>
              <a:t>Changing integer or string to float: 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x = float(“1.5”) </a:t>
            </a:r>
          </a:p>
          <a:p>
            <a:pPr lvl="2"/>
            <a:r>
              <a:rPr lang="en-US" dirty="0"/>
              <a:t>Changing float or integer to string: 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x = str(1.5) </a:t>
            </a:r>
          </a:p>
          <a:p>
            <a:pPr lvl="2"/>
            <a:r>
              <a:rPr lang="en-US" dirty="0"/>
              <a:t>Changing float or string to integer: 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x = int(1.5) </a:t>
            </a:r>
          </a:p>
        </p:txBody>
      </p:sp>
    </p:spTree>
    <p:extLst>
      <p:ext uri="{BB962C8B-B14F-4D97-AF65-F5344CB8AC3E}">
        <p14:creationId xmlns:p14="http://schemas.microsoft.com/office/powerpoint/2010/main" val="3148964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9DB25-5553-CBA4-20C1-A70C0C5BB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Python 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AFC0D-699D-7A3D-05CC-2E8CB3B845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in python are surrounded by either single quotation marks, or double quotation marks.</a:t>
            </a:r>
          </a:p>
          <a:p>
            <a:r>
              <a:rPr lang="en-US" dirty="0"/>
              <a:t>'hello' is the same as "hello".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557694-066C-2D26-BBD6-03FDB667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93" y="3335828"/>
            <a:ext cx="16478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50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73AA4-6CEC-50F2-DBE0-3BEBA3B25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4CDF9-7B8A-61BF-42D3-808C335352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05162" cy="474983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upper(): method returns the string in upper case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"Hello, World!"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a.upper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())</a:t>
            </a:r>
          </a:p>
          <a:p>
            <a:r>
              <a:rPr lang="en-US" dirty="0"/>
              <a:t>lower(): method returns the string in lower case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"Hello, World!"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a.lower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())</a:t>
            </a:r>
          </a:p>
          <a:p>
            <a:r>
              <a:rPr lang="en-US" dirty="0"/>
              <a:t>strip(): method removes any whitespace from the beginning or the end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 Hello, World! 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a.strip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()) </a:t>
            </a:r>
          </a:p>
          <a:p>
            <a:r>
              <a:rPr lang="en-US" dirty="0"/>
              <a:t>replace(): method replaces a string with another string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"Hello, World!"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a.replace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("H", "J"))</a:t>
            </a:r>
          </a:p>
          <a:p>
            <a:r>
              <a:rPr lang="en-US" dirty="0"/>
              <a:t>split() method returns a list where the text between the specified separator becomes the list items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"Hello, World!"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a.split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(","))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1401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CE117-F197-04BD-0899-960AF745F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Concatenation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4274D-7663-FBA7-C694-2FD78CD92B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concatenate, or combine, two strings you can use the + operator.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"Hello"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b = "World"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 = a + b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print(c)</a:t>
            </a:r>
          </a:p>
          <a:p>
            <a:r>
              <a:rPr lang="en-US" dirty="0"/>
              <a:t>We cannot combine strings and numbers like this:</a:t>
            </a:r>
          </a:p>
          <a:p>
            <a:r>
              <a:rPr lang="en-US" dirty="0"/>
              <a:t>To add a space between them, add a " ":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 = "Hello"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b = "World"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c = a + " " + b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print(c)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5319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E81D4-EB89-747A-998D-C00A02CFA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9E06D-7825-515C-3523-3A9FB4CEC3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175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F-String was introduced in Python 3.6, and is now the preferred way of formatting strings</a:t>
            </a:r>
          </a:p>
          <a:p>
            <a:r>
              <a:rPr lang="en-US" dirty="0"/>
              <a:t>To specify a string as an f-string, simply put an f in front of the string literal, and add curly brackets {} as placeholders for variables and other operations.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age = 36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txt =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f"My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name is John, I am {age}"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print(txt)</a:t>
            </a:r>
          </a:p>
          <a:p>
            <a:r>
              <a:rPr lang="en-US" dirty="0"/>
              <a:t>Display the price with 2 decimals: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price = 59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txt =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f"The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price is {price:.2f} dollars"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print(txt)</a:t>
            </a:r>
          </a:p>
          <a:p>
            <a:r>
              <a:rPr lang="en-US" dirty="0"/>
              <a:t>Perform a math operation in the placeholder, and return the result:</a:t>
            </a:r>
          </a:p>
          <a:p>
            <a:pPr lvl="1"/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txt = </a:t>
            </a:r>
            <a:r>
              <a:rPr lang="en-US" dirty="0" err="1">
                <a:solidFill>
                  <a:schemeClr val="bg1"/>
                </a:solidFill>
                <a:highlight>
                  <a:srgbClr val="000000"/>
                </a:highlight>
              </a:rPr>
              <a:t>f"The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 price is {20 * 59} dollars"</a:t>
            </a:r>
            <a:b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</a:b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print(txt)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61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D394F-9F87-8510-42F1-74C59FDDD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Escape Characters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DC43D-F42B-CA28-D6EF-0DAEB38EB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insert characters that are illegal in a string, use an escape character.</a:t>
            </a:r>
          </a:p>
          <a:p>
            <a:r>
              <a:rPr lang="en-US" dirty="0"/>
              <a:t>An escape character is a backslash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ighlight>
                  <a:srgbClr val="000000"/>
                </a:highlight>
              </a:rPr>
              <a:t>\</a:t>
            </a:r>
            <a:r>
              <a:rPr lang="en-US" dirty="0"/>
              <a:t> followed by the character you want to insert.</a:t>
            </a:r>
            <a:endParaRPr lang="en-US" dirty="0">
              <a:solidFill>
                <a:schemeClr val="bg1"/>
              </a:solidFill>
            </a:endParaRPr>
          </a:p>
          <a:p>
            <a:pPr lvl="1"/>
            <a:r>
              <a:rPr lang="en-US" dirty="0"/>
              <a:t>txt = "We are the so-called \"Vikings\" from the north.“</a:t>
            </a:r>
          </a:p>
          <a:p>
            <a:pPr marL="457200" lvl="1" indent="0">
              <a:buNone/>
            </a:pPr>
            <a:r>
              <a:rPr lang="en-US" dirty="0"/>
              <a:t>    print(txt)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9669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9C9EC-BEF1-28E3-6CBB-2CC58C0ED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escape characters used in Python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205D403-4D0F-14E1-B875-D3929ABCA8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0259692"/>
              </p:ext>
            </p:extLst>
          </p:nvPr>
        </p:nvGraphicFramePr>
        <p:xfrm>
          <a:off x="2316542" y="1773514"/>
          <a:ext cx="6933133" cy="3962400"/>
        </p:xfrm>
        <a:graphic>
          <a:graphicData uri="http://schemas.openxmlformats.org/drawingml/2006/table">
            <a:tbl>
              <a:tblPr/>
              <a:tblGrid>
                <a:gridCol w="1925688">
                  <a:extLst>
                    <a:ext uri="{9D8B030D-6E8A-4147-A177-3AD203B41FA5}">
                      <a16:colId xmlns:a16="http://schemas.microsoft.com/office/drawing/2014/main" val="3117324919"/>
                    </a:ext>
                  </a:extLst>
                </a:gridCol>
                <a:gridCol w="5007445">
                  <a:extLst>
                    <a:ext uri="{9D8B030D-6E8A-4147-A177-3AD203B41FA5}">
                      <a16:colId xmlns:a16="http://schemas.microsoft.com/office/drawing/2014/main" val="4157153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Code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Result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355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\'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Single Quote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333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\\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Backslash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9704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\n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New Line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991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Carriage Return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687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Tab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32403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\b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Backspace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886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\f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Form Feed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195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\ooo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Octal value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5165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\xhh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Hex value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830893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5DBF945-EEA1-F20F-92EE-9C3B29E9AC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6759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B083C34-6EF7-F113-3D8E-A118C05CDB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9735613"/>
              </p:ext>
            </p:extLst>
          </p:nvPr>
        </p:nvGraphicFramePr>
        <p:xfrm>
          <a:off x="6465086" y="454443"/>
          <a:ext cx="4918679" cy="5949112"/>
        </p:xfrm>
        <a:graphic>
          <a:graphicData uri="http://schemas.openxmlformats.org/drawingml/2006/table">
            <a:tbl>
              <a:tblPr/>
              <a:tblGrid>
                <a:gridCol w="1131141">
                  <a:extLst>
                    <a:ext uri="{9D8B030D-6E8A-4147-A177-3AD203B41FA5}">
                      <a16:colId xmlns:a16="http://schemas.microsoft.com/office/drawing/2014/main" val="3592151160"/>
                    </a:ext>
                  </a:extLst>
                </a:gridCol>
                <a:gridCol w="3787538">
                  <a:extLst>
                    <a:ext uri="{9D8B030D-6E8A-4147-A177-3AD203B41FA5}">
                      <a16:colId xmlns:a16="http://schemas.microsoft.com/office/drawing/2014/main" val="2240312411"/>
                    </a:ext>
                  </a:extLst>
                </a:gridCol>
              </a:tblGrid>
              <a:tr h="212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String Method</a:t>
                      </a: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Description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1668967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  <a:hlinkClick r:id="rId3"/>
                        </a:rPr>
                        <a:t>capitalize()</a:t>
                      </a:r>
                      <a:endParaRPr lang="en-US" sz="1000" dirty="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Converts the first character to upper case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035732"/>
                  </a:ext>
                </a:extLst>
              </a:tr>
              <a:tr h="212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"/>
                        </a:rPr>
                        <a:t>casefold()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Converts string into lower case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3685322"/>
                  </a:ext>
                </a:extLst>
              </a:tr>
              <a:tr h="212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5"/>
                        </a:rPr>
                        <a:t>center()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centered string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065013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6"/>
                        </a:rPr>
                        <a:t>count()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the number of times a specified value occurs in a string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186982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7"/>
                        </a:rPr>
                        <a:t>encode()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an encoded version of the string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902575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8"/>
                        </a:rPr>
                        <a:t>endswith()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Returns true if the string ends with the specified value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0623925"/>
                  </a:ext>
                </a:extLst>
              </a:tr>
              <a:tr h="212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9"/>
                        </a:rPr>
                        <a:t>expandtabs()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Sets the tab size of the string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691308"/>
                  </a:ext>
                </a:extLst>
              </a:tr>
              <a:tr h="44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  <a:hlinkClick r:id="rId10"/>
                        </a:rPr>
                        <a:t>find()</a:t>
                      </a:r>
                      <a:endParaRPr lang="en-US" sz="1000" dirty="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Searches the string for a specified value and returns the position of where it was found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2286427"/>
                  </a:ext>
                </a:extLst>
              </a:tr>
              <a:tr h="212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1"/>
                        </a:rPr>
                        <a:t>format()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Formats specified values in a string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5078493"/>
                  </a:ext>
                </a:extLst>
              </a:tr>
              <a:tr h="21260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format_map()</a:t>
                      </a: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Formats specified values in a string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979515"/>
                  </a:ext>
                </a:extLst>
              </a:tr>
              <a:tr h="44441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2"/>
                        </a:rPr>
                        <a:t>index()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Searches the string for a specified value and returns the position of where it was found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805570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3"/>
                        </a:rPr>
                        <a:t>isalnum()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alphanumeric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350388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4"/>
                        </a:rPr>
                        <a:t>isalpha()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in the alphabet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738374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5"/>
                        </a:rPr>
                        <a:t>isascii()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ascii characters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314496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6"/>
                        </a:rPr>
                        <a:t>isdecimal()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decimals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709256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7"/>
                        </a:rPr>
                        <a:t>isdigit()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digits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759607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8"/>
                        </a:rPr>
                        <a:t>isidentifier()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the string is an identifier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4118144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19"/>
                        </a:rPr>
                        <a:t>islower()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lower case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877049"/>
                  </a:ext>
                </a:extLst>
              </a:tr>
              <a:tr h="315388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0"/>
                        </a:rPr>
                        <a:t>isnumeric()</a:t>
                      </a:r>
                      <a:endParaRPr lang="en-US" sz="1000">
                        <a:effectLst/>
                      </a:endParaRP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Returns True if all characters in the string are numeric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25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7CF876-05FA-A233-499B-9853A7604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7577044"/>
              </p:ext>
            </p:extLst>
          </p:nvPr>
        </p:nvGraphicFramePr>
        <p:xfrm>
          <a:off x="523982" y="454443"/>
          <a:ext cx="5647738" cy="5949114"/>
        </p:xfrm>
        <a:graphic>
          <a:graphicData uri="http://schemas.openxmlformats.org/drawingml/2006/table">
            <a:tbl>
              <a:tblPr/>
              <a:tblGrid>
                <a:gridCol w="1125353">
                  <a:extLst>
                    <a:ext uri="{9D8B030D-6E8A-4147-A177-3AD203B41FA5}">
                      <a16:colId xmlns:a16="http://schemas.microsoft.com/office/drawing/2014/main" val="3544473511"/>
                    </a:ext>
                  </a:extLst>
                </a:gridCol>
                <a:gridCol w="4522385">
                  <a:extLst>
                    <a:ext uri="{9D8B030D-6E8A-4147-A177-3AD203B41FA5}">
                      <a16:colId xmlns:a16="http://schemas.microsoft.com/office/drawing/2014/main" val="1002571762"/>
                    </a:ext>
                  </a:extLst>
                </a:gridCol>
              </a:tblGrid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String Method</a:t>
                      </a:r>
                    </a:p>
                  </a:txBody>
                  <a:tcPr marL="43083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Description</a:t>
                      </a:r>
                    </a:p>
                  </a:txBody>
                  <a:tcPr marL="21541" marR="21541" marT="21541" marB="21541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0667354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 err="1">
                          <a:effectLst/>
                          <a:hlinkClick r:id="rId21"/>
                        </a:rPr>
                        <a:t>isprintable</a:t>
                      </a:r>
                      <a:r>
                        <a:rPr lang="en-US" sz="1000" dirty="0">
                          <a:effectLst/>
                          <a:hlinkClick r:id="rId21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Returns True if all characters in the string are printable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9417730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2"/>
                        </a:rPr>
                        <a:t>isspace()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whitespaces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118838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3"/>
                        </a:rPr>
                        <a:t>istitle()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the string follows the rules of a title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296077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4"/>
                        </a:rPr>
                        <a:t>isupper()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all characters in the string are upper case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676181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5"/>
                        </a:rPr>
                        <a:t>join()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Joins the elements of an iterable to the end of the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0496050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6"/>
                        </a:rPr>
                        <a:t>ljust()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left justified version of the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093150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7"/>
                        </a:rPr>
                        <a:t>lower()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Converts a string into lower case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6193255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8"/>
                        </a:rPr>
                        <a:t>lstrip()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left trim version of the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5782094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29"/>
                        </a:rPr>
                        <a:t>maketrans()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translation table to be used in translations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527514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0"/>
                        </a:rPr>
                        <a:t>partition()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tuple where the string is parted into three parts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227435"/>
                  </a:ext>
                </a:extLst>
              </a:tr>
              <a:tr h="2931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1"/>
                        </a:rPr>
                        <a:t>replace()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string where a specified value is replaced with a specified value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753809"/>
                  </a:ext>
                </a:extLst>
              </a:tr>
              <a:tr h="2931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2"/>
                        </a:rPr>
                        <a:t>rfind()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Searches the string for a specified value and returns the last position of where it was found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588567"/>
                  </a:ext>
                </a:extLst>
              </a:tr>
              <a:tr h="2931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3"/>
                        </a:rPr>
                        <a:t>rindex()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Searches the string for a specified value and returns the last position of where it was found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82374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4"/>
                        </a:rPr>
                        <a:t>rjust()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right justified version of the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2935891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5"/>
                        </a:rPr>
                        <a:t>rpartition()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tuple where the string is parted into three parts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747486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6"/>
                        </a:rPr>
                        <a:t>rsplit()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Splits the string at the specified separator, and returns a list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725633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7"/>
                        </a:rPr>
                        <a:t>rstrip()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right trim version of the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114591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8"/>
                        </a:rPr>
                        <a:t>split()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Splits the string at the specified separator, and returns a list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0498936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39"/>
                        </a:rPr>
                        <a:t>splitlines()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Splits the string at line breaks and returns a list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657868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0"/>
                        </a:rPr>
                        <a:t>startswith()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true if the string starts with the specified value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0040044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1"/>
                        </a:rPr>
                        <a:t>strip()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trimmed version of the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012835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2"/>
                        </a:rPr>
                        <a:t>swapcase()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Swaps cases, lower case becomes upper case and vice versa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521237"/>
                  </a:ext>
                </a:extLst>
              </a:tr>
              <a:tr h="2070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3"/>
                        </a:rPr>
                        <a:t>title()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Converts the first character of each word to upper case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222658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4"/>
                        </a:rPr>
                        <a:t>translate()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Returns a translated string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82"/>
                  </a:ext>
                </a:extLst>
              </a:tr>
              <a:tr h="12099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  <a:hlinkClick r:id="rId45"/>
                        </a:rPr>
                        <a:t>upper()</a:t>
                      </a:r>
                      <a:endParaRPr lang="en-US" sz="100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>
                          <a:effectLst/>
                        </a:rPr>
                        <a:t>Converts a string into upper case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584227"/>
                  </a:ext>
                </a:extLst>
              </a:tr>
              <a:tr h="29314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 err="1">
                          <a:effectLst/>
                          <a:hlinkClick r:id="rId46"/>
                        </a:rPr>
                        <a:t>zfill</a:t>
                      </a:r>
                      <a:r>
                        <a:rPr lang="en-US" sz="1000" dirty="0">
                          <a:effectLst/>
                          <a:hlinkClick r:id="rId46"/>
                        </a:rPr>
                        <a:t>()</a:t>
                      </a:r>
                      <a:endParaRPr lang="en-US" sz="1000" dirty="0">
                        <a:effectLst/>
                      </a:endParaRPr>
                    </a:p>
                  </a:txBody>
                  <a:tcPr marL="30915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000" dirty="0">
                          <a:effectLst/>
                        </a:rPr>
                        <a:t>Fills the string with a specified number of 0 values at the beginning</a:t>
                      </a:r>
                    </a:p>
                  </a:txBody>
                  <a:tcPr marL="15458" marR="15458" marT="15458" marB="15458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095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4495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9F74-8A4D-A5FD-B1DB-FC88A7A62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Slicing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31F105-547B-FA93-C44A-DA259AEF3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You can return a range of characters by using the slice syntax.</a:t>
            </a:r>
          </a:p>
          <a:p>
            <a:r>
              <a:rPr lang="en-US" dirty="0"/>
              <a:t>Specify the start index and the end index, separated by a colon, to return a part of the string.</a:t>
            </a:r>
          </a:p>
          <a:p>
            <a:pPr lvl="1"/>
            <a:r>
              <a:rPr lang="en-US" dirty="0"/>
              <a:t>b = "Hello, World!"</a:t>
            </a:r>
            <a:br>
              <a:rPr lang="en-US" dirty="0"/>
            </a:br>
            <a:r>
              <a:rPr lang="en-US" dirty="0"/>
              <a:t>print(b[2:5])</a:t>
            </a:r>
          </a:p>
          <a:p>
            <a:r>
              <a:rPr lang="en-US" dirty="0"/>
              <a:t>Slice From the Start: By leaving out the start index, the range will start at the first character:</a:t>
            </a:r>
          </a:p>
          <a:p>
            <a:pPr lvl="1"/>
            <a:r>
              <a:rPr lang="en-US" dirty="0"/>
              <a:t>b = "Hello, World!"</a:t>
            </a:r>
            <a:br>
              <a:rPr lang="en-US" dirty="0"/>
            </a:br>
            <a:r>
              <a:rPr lang="en-US" dirty="0"/>
              <a:t>print(b[:5])</a:t>
            </a:r>
          </a:p>
          <a:p>
            <a:r>
              <a:rPr lang="en-US" dirty="0"/>
              <a:t>Slice To the End: By leaving out the </a:t>
            </a:r>
            <a:r>
              <a:rPr lang="en-US" i="1" dirty="0"/>
              <a:t>end </a:t>
            </a:r>
            <a:r>
              <a:rPr lang="en-US" dirty="0"/>
              <a:t>index, the range will go to the end:</a:t>
            </a:r>
          </a:p>
          <a:p>
            <a:pPr lvl="1"/>
            <a:r>
              <a:rPr lang="en-US" dirty="0"/>
              <a:t>b = "Hello, World!"</a:t>
            </a:r>
            <a:br>
              <a:rPr lang="en-US" dirty="0"/>
            </a:br>
            <a:r>
              <a:rPr lang="en-US" dirty="0"/>
              <a:t>print(b[2:])</a:t>
            </a:r>
          </a:p>
          <a:p>
            <a:r>
              <a:rPr lang="en-US" dirty="0"/>
              <a:t>Negative Indexing: Use negative indexes to start the slice from the end of the string</a:t>
            </a:r>
          </a:p>
          <a:p>
            <a:pPr lvl="1"/>
            <a:r>
              <a:rPr lang="en-US" dirty="0"/>
              <a:t>b = "Hello, World!"</a:t>
            </a:r>
            <a:br>
              <a:rPr lang="en-US" dirty="0"/>
            </a:br>
            <a:r>
              <a:rPr lang="en-US" dirty="0"/>
              <a:t>print(b[-5:-2])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43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05716-266F-62FF-92B4-D22D6DC3E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 Booleans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213F57-45E8-1447-92CF-3FE200348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41124"/>
            <a:ext cx="10515600" cy="4951751"/>
          </a:xfrm>
        </p:spPr>
        <p:txBody>
          <a:bodyPr>
            <a:normAutofit/>
          </a:bodyPr>
          <a:lstStyle/>
          <a:p>
            <a:r>
              <a:rPr lang="en-US" dirty="0"/>
              <a:t>Booleans represent one of two values: True or False.</a:t>
            </a:r>
          </a:p>
          <a:p>
            <a:pPr lvl="1"/>
            <a:r>
              <a:rPr lang="en-US" dirty="0"/>
              <a:t>print(10 &gt; 9)</a:t>
            </a:r>
            <a:br>
              <a:rPr lang="en-US" dirty="0"/>
            </a:br>
            <a:r>
              <a:rPr lang="en-US" dirty="0"/>
              <a:t>print(10 == 9)</a:t>
            </a:r>
            <a:br>
              <a:rPr lang="en-US" dirty="0"/>
            </a:br>
            <a:r>
              <a:rPr lang="en-US" dirty="0"/>
              <a:t>print(10 &lt; 9)</a:t>
            </a:r>
          </a:p>
          <a:p>
            <a:r>
              <a:rPr lang="en-US" dirty="0"/>
              <a:t>When you run a condition in an if statement, Python returns True or False</a:t>
            </a:r>
          </a:p>
          <a:p>
            <a:pPr lvl="1"/>
            <a:r>
              <a:rPr lang="en-US" dirty="0"/>
              <a:t>a = 200</a:t>
            </a:r>
            <a:br>
              <a:rPr lang="en-US" dirty="0"/>
            </a:br>
            <a:r>
              <a:rPr lang="en-US" dirty="0"/>
              <a:t>b = 33</a:t>
            </a:r>
            <a:br>
              <a:rPr lang="en-US" dirty="0"/>
            </a:br>
            <a:r>
              <a:rPr lang="en-US" dirty="0"/>
              <a:t>if b &gt; a:</a:t>
            </a:r>
            <a:br>
              <a:rPr lang="en-US" dirty="0"/>
            </a:br>
            <a:r>
              <a:rPr lang="en-US" dirty="0"/>
              <a:t>  print("b is greater than a")</a:t>
            </a:r>
            <a:br>
              <a:rPr lang="en-US" dirty="0"/>
            </a:br>
            <a:r>
              <a:rPr lang="en-US" dirty="0"/>
              <a:t>else:</a:t>
            </a:r>
            <a:br>
              <a:rPr lang="en-US" dirty="0"/>
            </a:br>
            <a:r>
              <a:rPr lang="en-US" dirty="0"/>
              <a:t>  print("b is not greater than a")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95954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767E9-CD4B-B728-1BA3-D40B1262F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Evaluate Values and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12586-1DC8-7E62-E113-03EEC2EE3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0575"/>
            <a:ext cx="10515600" cy="50446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 bool() function allows you to evaluate any value, and give you True or False in return</a:t>
            </a:r>
          </a:p>
          <a:p>
            <a:pPr lvl="1"/>
            <a:r>
              <a:rPr lang="en-US" dirty="0"/>
              <a:t>print(bool("Hello"))</a:t>
            </a:r>
            <a:br>
              <a:rPr lang="en-US" dirty="0"/>
            </a:br>
            <a:r>
              <a:rPr lang="en-US" dirty="0"/>
              <a:t>print(bool(15))</a:t>
            </a:r>
          </a:p>
          <a:p>
            <a:r>
              <a:rPr lang="en-US" dirty="0"/>
              <a:t>Almost any value is evaluated to True if it has some sort of content.</a:t>
            </a:r>
          </a:p>
          <a:p>
            <a:r>
              <a:rPr lang="en-US" dirty="0"/>
              <a:t>Any string is True, except empty strings.</a:t>
            </a:r>
          </a:p>
          <a:p>
            <a:r>
              <a:rPr lang="en-US" dirty="0"/>
              <a:t>Any number is True, except 0.</a:t>
            </a:r>
          </a:p>
          <a:p>
            <a:r>
              <a:rPr lang="en-US" dirty="0"/>
              <a:t>Any list, tuple, set, and dictionary are True, except empty ones.</a:t>
            </a:r>
          </a:p>
          <a:p>
            <a:r>
              <a:rPr lang="en-US" dirty="0"/>
              <a:t>Some Values are False</a:t>
            </a:r>
          </a:p>
          <a:p>
            <a:pPr lvl="1"/>
            <a:r>
              <a:rPr lang="en-US" dirty="0"/>
              <a:t>bool(False)</a:t>
            </a:r>
            <a:br>
              <a:rPr lang="en-US" dirty="0"/>
            </a:br>
            <a:r>
              <a:rPr lang="en-US" dirty="0"/>
              <a:t>bool(None)</a:t>
            </a:r>
            <a:br>
              <a:rPr lang="en-US" dirty="0"/>
            </a:br>
            <a:r>
              <a:rPr lang="en-US" dirty="0"/>
              <a:t>bool(0)</a:t>
            </a:r>
            <a:br>
              <a:rPr lang="en-US" dirty="0"/>
            </a:br>
            <a:r>
              <a:rPr lang="en-US" dirty="0"/>
              <a:t>bool("")</a:t>
            </a:r>
            <a:br>
              <a:rPr lang="en-US" dirty="0"/>
            </a:br>
            <a:r>
              <a:rPr lang="en-US" dirty="0"/>
              <a:t>bool(())</a:t>
            </a:r>
            <a:br>
              <a:rPr lang="en-US" dirty="0"/>
            </a:br>
            <a:r>
              <a:rPr lang="en-US" dirty="0"/>
              <a:t>bool([])</a:t>
            </a:r>
            <a:br>
              <a:rPr lang="en-US" dirty="0"/>
            </a:br>
            <a:r>
              <a:rPr lang="en-US" dirty="0"/>
              <a:t>bool({})</a:t>
            </a:r>
          </a:p>
        </p:txBody>
      </p:sp>
    </p:spTree>
    <p:extLst>
      <p:ext uri="{BB962C8B-B14F-4D97-AF65-F5344CB8AC3E}">
        <p14:creationId xmlns:p14="http://schemas.microsoft.com/office/powerpoint/2010/main" val="344317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EEE6-B513-F7DE-0B6F-0EAEF4A23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862A0-2B6C-6BB5-4D1D-ED43D9CB2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Operators are used to perform operations on variables and values.</a:t>
            </a:r>
          </a:p>
          <a:p>
            <a:r>
              <a:rPr lang="en-US" dirty="0"/>
              <a:t>In the example below, we use the + operator to add together two values:</a:t>
            </a:r>
          </a:p>
          <a:p>
            <a:pPr lvl="1"/>
            <a:r>
              <a:rPr lang="en-US" dirty="0"/>
              <a:t>print(10 + 5)</a:t>
            </a:r>
          </a:p>
          <a:p>
            <a:r>
              <a:rPr lang="en-US" dirty="0"/>
              <a:t>Python divides the operators in the following groups:</a:t>
            </a:r>
          </a:p>
          <a:p>
            <a:pPr lvl="1"/>
            <a:r>
              <a:rPr lang="en-US" dirty="0"/>
              <a:t>Arithmetic operators</a:t>
            </a:r>
          </a:p>
          <a:p>
            <a:pPr lvl="1"/>
            <a:r>
              <a:rPr lang="en-US" dirty="0"/>
              <a:t>Assignment operators</a:t>
            </a:r>
          </a:p>
          <a:p>
            <a:pPr lvl="1"/>
            <a:r>
              <a:rPr lang="en-US" dirty="0"/>
              <a:t>Comparison operators</a:t>
            </a:r>
          </a:p>
          <a:p>
            <a:pPr lvl="1"/>
            <a:r>
              <a:rPr lang="en-US" dirty="0"/>
              <a:t>Logical operators</a:t>
            </a:r>
          </a:p>
          <a:p>
            <a:pPr lvl="1"/>
            <a:r>
              <a:rPr lang="en-US" dirty="0"/>
              <a:t>Identity operators</a:t>
            </a:r>
          </a:p>
          <a:p>
            <a:pPr lvl="1"/>
            <a:r>
              <a:rPr lang="en-US" dirty="0"/>
              <a:t>Membership operators</a:t>
            </a:r>
          </a:p>
          <a:p>
            <a:pPr lvl="1"/>
            <a:r>
              <a:rPr lang="en-US" dirty="0"/>
              <a:t>Bitwise operators</a:t>
            </a:r>
            <a:br>
              <a:rPr lang="en-US" dirty="0"/>
            </a:b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98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0724B-F07A-7891-D300-78CCE14FA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4FD5A8F-C419-58FA-4F54-B357526D2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3351125"/>
              </p:ext>
            </p:extLst>
          </p:nvPr>
        </p:nvGraphicFramePr>
        <p:xfrm>
          <a:off x="2306268" y="1844040"/>
          <a:ext cx="6932335" cy="3169920"/>
        </p:xfrm>
        <a:graphic>
          <a:graphicData uri="http://schemas.openxmlformats.org/drawingml/2006/table">
            <a:tbl>
              <a:tblPr/>
              <a:tblGrid>
                <a:gridCol w="1925659">
                  <a:extLst>
                    <a:ext uri="{9D8B030D-6E8A-4147-A177-3AD203B41FA5}">
                      <a16:colId xmlns:a16="http://schemas.microsoft.com/office/drawing/2014/main" val="722338709"/>
                    </a:ext>
                  </a:extLst>
                </a:gridCol>
                <a:gridCol w="2695895">
                  <a:extLst>
                    <a:ext uri="{9D8B030D-6E8A-4147-A177-3AD203B41FA5}">
                      <a16:colId xmlns:a16="http://schemas.microsoft.com/office/drawing/2014/main" val="162409798"/>
                    </a:ext>
                  </a:extLst>
                </a:gridCol>
                <a:gridCol w="2310781">
                  <a:extLst>
                    <a:ext uri="{9D8B030D-6E8A-4147-A177-3AD203B41FA5}">
                      <a16:colId xmlns:a16="http://schemas.microsoft.com/office/drawing/2014/main" val="527648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435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+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Addition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+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859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-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Subtraction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-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591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*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Multiplication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*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4272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/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Division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/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0787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%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Modulus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%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406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**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Exponentiation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**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64062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//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Floor division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x //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45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744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9D07D-BA25-A5C4-8F2D-F3EF7F1F3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A899B0-B0B6-8605-225C-6E07246831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9666635"/>
              </p:ext>
            </p:extLst>
          </p:nvPr>
        </p:nvGraphicFramePr>
        <p:xfrm>
          <a:off x="3400783" y="1776434"/>
          <a:ext cx="4671709" cy="4449720"/>
        </p:xfrm>
        <a:graphic>
          <a:graphicData uri="http://schemas.openxmlformats.org/drawingml/2006/table">
            <a:tbl>
              <a:tblPr/>
              <a:tblGrid>
                <a:gridCol w="1796813">
                  <a:extLst>
                    <a:ext uri="{9D8B030D-6E8A-4147-A177-3AD203B41FA5}">
                      <a16:colId xmlns:a16="http://schemas.microsoft.com/office/drawing/2014/main" val="2327391913"/>
                    </a:ext>
                  </a:extLst>
                </a:gridCol>
                <a:gridCol w="1437448">
                  <a:extLst>
                    <a:ext uri="{9D8B030D-6E8A-4147-A177-3AD203B41FA5}">
                      <a16:colId xmlns:a16="http://schemas.microsoft.com/office/drawing/2014/main" val="1646723764"/>
                    </a:ext>
                  </a:extLst>
                </a:gridCol>
                <a:gridCol w="1437448">
                  <a:extLst>
                    <a:ext uri="{9D8B030D-6E8A-4147-A177-3AD203B41FA5}">
                      <a16:colId xmlns:a16="http://schemas.microsoft.com/office/drawing/2014/main" val="3783837575"/>
                    </a:ext>
                  </a:extLst>
                </a:gridCol>
              </a:tblGrid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Operator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Example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Same As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9421874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5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5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5081285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+=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+=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+ 3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3236488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-=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-=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- 3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294864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*=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*=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*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63249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/=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/=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/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850440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%=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%=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%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794071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//=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//=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//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9133386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**=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**=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**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328049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&amp;=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&amp;=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&amp;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700774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|=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|=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|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712537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^=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^=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^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641323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&gt;&gt;=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&gt;&gt;=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&gt;&gt;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301326"/>
                  </a:ext>
                </a:extLst>
              </a:tr>
              <a:tr h="2772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&lt;&lt;=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&lt;&lt;=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x = x &lt;&lt; 3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558939"/>
                  </a:ext>
                </a:extLst>
              </a:tr>
              <a:tr h="46926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:=</a:t>
                      </a:r>
                    </a:p>
                  </a:txBody>
                  <a:tcPr marL="8532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>
                          <a:effectLst/>
                        </a:rPr>
                        <a:t>print(x := 3)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300" dirty="0">
                          <a:effectLst/>
                        </a:rPr>
                        <a:t>x = 3</a:t>
                      </a:r>
                      <a:br>
                        <a:rPr lang="en-US" sz="1300" dirty="0">
                          <a:effectLst/>
                        </a:rPr>
                      </a:br>
                      <a:r>
                        <a:rPr lang="en-US" sz="1300" dirty="0">
                          <a:effectLst/>
                        </a:rPr>
                        <a:t>print(x)</a:t>
                      </a:r>
                    </a:p>
                  </a:txBody>
                  <a:tcPr marL="42660" marR="42660" marT="42660" marB="426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151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3139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3C0A-6822-8261-136A-3C56A8AEB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F750DA0-9E2C-CF18-D9D5-4079DBDD89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9004730"/>
              </p:ext>
            </p:extLst>
          </p:nvPr>
        </p:nvGraphicFramePr>
        <p:xfrm>
          <a:off x="1998043" y="2042160"/>
          <a:ext cx="6932335" cy="2773680"/>
        </p:xfrm>
        <a:graphic>
          <a:graphicData uri="http://schemas.openxmlformats.org/drawingml/2006/table">
            <a:tbl>
              <a:tblPr/>
              <a:tblGrid>
                <a:gridCol w="1925659">
                  <a:extLst>
                    <a:ext uri="{9D8B030D-6E8A-4147-A177-3AD203B41FA5}">
                      <a16:colId xmlns:a16="http://schemas.microsoft.com/office/drawing/2014/main" val="570327203"/>
                    </a:ext>
                  </a:extLst>
                </a:gridCol>
                <a:gridCol w="2695895">
                  <a:extLst>
                    <a:ext uri="{9D8B030D-6E8A-4147-A177-3AD203B41FA5}">
                      <a16:colId xmlns:a16="http://schemas.microsoft.com/office/drawing/2014/main" val="2429231983"/>
                    </a:ext>
                  </a:extLst>
                </a:gridCol>
                <a:gridCol w="2310781">
                  <a:extLst>
                    <a:ext uri="{9D8B030D-6E8A-4147-A177-3AD203B41FA5}">
                      <a16:colId xmlns:a16="http://schemas.microsoft.com/office/drawing/2014/main" val="6375282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Name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590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==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==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107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!=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Not equal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!=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60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&gt;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Greater than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&gt;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970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&lt;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Less than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&lt;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144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&gt;=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Greater than or equal to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&gt;=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324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&lt;=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Less than or equal to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x &lt;=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00161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01C7F00E-E921-BAAB-1A03-E1F8C5416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46580" y="-572294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83177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88AD0-9071-D4D2-FB06-3DADA14E5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F59BAED-7C21-93BF-CFE2-17CD423154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062983"/>
              </p:ext>
            </p:extLst>
          </p:nvPr>
        </p:nvGraphicFramePr>
        <p:xfrm>
          <a:off x="2244623" y="2660174"/>
          <a:ext cx="6932335" cy="2682240"/>
        </p:xfrm>
        <a:graphic>
          <a:graphicData uri="http://schemas.openxmlformats.org/drawingml/2006/table">
            <a:tbl>
              <a:tblPr/>
              <a:tblGrid>
                <a:gridCol w="1925659">
                  <a:extLst>
                    <a:ext uri="{9D8B030D-6E8A-4147-A177-3AD203B41FA5}">
                      <a16:colId xmlns:a16="http://schemas.microsoft.com/office/drawing/2014/main" val="2122680537"/>
                    </a:ext>
                  </a:extLst>
                </a:gridCol>
                <a:gridCol w="2695895">
                  <a:extLst>
                    <a:ext uri="{9D8B030D-6E8A-4147-A177-3AD203B41FA5}">
                      <a16:colId xmlns:a16="http://schemas.microsoft.com/office/drawing/2014/main" val="2701126618"/>
                    </a:ext>
                  </a:extLst>
                </a:gridCol>
                <a:gridCol w="2310781">
                  <a:extLst>
                    <a:ext uri="{9D8B030D-6E8A-4147-A177-3AD203B41FA5}">
                      <a16:colId xmlns:a16="http://schemas.microsoft.com/office/drawing/2014/main" val="213012965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399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and 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 True if both statements are true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&lt; 5 and  x &lt; 10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164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 True if one of the statements is true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&lt; 5 or x &lt; 4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21094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not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Reverse the result, returns False if the result is true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not(x &lt; 5 and x &lt; 10)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593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2147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FED9D-B7F6-5CC4-18E1-2AAAC3712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Identity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27306B-7D0F-69EE-BD82-3B00F4E8E9A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971465"/>
              </p:ext>
            </p:extLst>
          </p:nvPr>
        </p:nvGraphicFramePr>
        <p:xfrm>
          <a:off x="2244623" y="2858294"/>
          <a:ext cx="6932335" cy="2286000"/>
        </p:xfrm>
        <a:graphic>
          <a:graphicData uri="http://schemas.openxmlformats.org/drawingml/2006/table">
            <a:tbl>
              <a:tblPr/>
              <a:tblGrid>
                <a:gridCol w="1925659">
                  <a:extLst>
                    <a:ext uri="{9D8B030D-6E8A-4147-A177-3AD203B41FA5}">
                      <a16:colId xmlns:a16="http://schemas.microsoft.com/office/drawing/2014/main" val="506615237"/>
                    </a:ext>
                  </a:extLst>
                </a:gridCol>
                <a:gridCol w="2695895">
                  <a:extLst>
                    <a:ext uri="{9D8B030D-6E8A-4147-A177-3AD203B41FA5}">
                      <a16:colId xmlns:a16="http://schemas.microsoft.com/office/drawing/2014/main" val="561436124"/>
                    </a:ext>
                  </a:extLst>
                </a:gridCol>
                <a:gridCol w="2310781">
                  <a:extLst>
                    <a:ext uri="{9D8B030D-6E8A-4147-A177-3AD203B41FA5}">
                      <a16:colId xmlns:a16="http://schemas.microsoft.com/office/drawing/2014/main" val="11446520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9385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is 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 True if both variables are the same object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is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936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is not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 True if both variables are not the same object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x is not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34797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458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86161-019B-20DB-F616-CDAAF4183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Membership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859DE1-202B-6DAE-B5BE-DB71A269C2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9665387"/>
              </p:ext>
            </p:extLst>
          </p:nvPr>
        </p:nvGraphicFramePr>
        <p:xfrm>
          <a:off x="2244623" y="2583974"/>
          <a:ext cx="6932335" cy="2834640"/>
        </p:xfrm>
        <a:graphic>
          <a:graphicData uri="http://schemas.openxmlformats.org/drawingml/2006/table">
            <a:tbl>
              <a:tblPr/>
              <a:tblGrid>
                <a:gridCol w="1925659">
                  <a:extLst>
                    <a:ext uri="{9D8B030D-6E8A-4147-A177-3AD203B41FA5}">
                      <a16:colId xmlns:a16="http://schemas.microsoft.com/office/drawing/2014/main" val="2526964154"/>
                    </a:ext>
                  </a:extLst>
                </a:gridCol>
                <a:gridCol w="2695895">
                  <a:extLst>
                    <a:ext uri="{9D8B030D-6E8A-4147-A177-3AD203B41FA5}">
                      <a16:colId xmlns:a16="http://schemas.microsoft.com/office/drawing/2014/main" val="1478122465"/>
                    </a:ext>
                  </a:extLst>
                </a:gridCol>
                <a:gridCol w="2310781">
                  <a:extLst>
                    <a:ext uri="{9D8B030D-6E8A-4147-A177-3AD203B41FA5}">
                      <a16:colId xmlns:a16="http://schemas.microsoft.com/office/drawing/2014/main" val="5744059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Operator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Example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784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in 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 True if a sequence with the specified value is present in the object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x in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54031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not in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>
                          <a:effectLst/>
                        </a:rPr>
                        <a:t>Returns True if a sequence with the specified value is not present in the object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dirty="0">
                          <a:effectLst/>
                        </a:rPr>
                        <a:t>x not in 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6047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350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C3C21-C75C-C015-334F-856EE03A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C437C74-BDB0-BC74-123D-000E5521F4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098902"/>
              </p:ext>
            </p:extLst>
          </p:nvPr>
        </p:nvGraphicFramePr>
        <p:xfrm>
          <a:off x="2899347" y="1818315"/>
          <a:ext cx="5753856" cy="4365958"/>
        </p:xfrm>
        <a:graphic>
          <a:graphicData uri="http://schemas.openxmlformats.org/drawingml/2006/table">
            <a:tbl>
              <a:tblPr/>
              <a:tblGrid>
                <a:gridCol w="639290">
                  <a:extLst>
                    <a:ext uri="{9D8B030D-6E8A-4147-A177-3AD203B41FA5}">
                      <a16:colId xmlns:a16="http://schemas.microsoft.com/office/drawing/2014/main" val="1995486050"/>
                    </a:ext>
                  </a:extLst>
                </a:gridCol>
                <a:gridCol w="958936">
                  <a:extLst>
                    <a:ext uri="{9D8B030D-6E8A-4147-A177-3AD203B41FA5}">
                      <a16:colId xmlns:a16="http://schemas.microsoft.com/office/drawing/2014/main" val="1724952079"/>
                    </a:ext>
                  </a:extLst>
                </a:gridCol>
                <a:gridCol w="2237676">
                  <a:extLst>
                    <a:ext uri="{9D8B030D-6E8A-4147-A177-3AD203B41FA5}">
                      <a16:colId xmlns:a16="http://schemas.microsoft.com/office/drawing/2014/main" val="2262442573"/>
                    </a:ext>
                  </a:extLst>
                </a:gridCol>
                <a:gridCol w="1917954">
                  <a:extLst>
                    <a:ext uri="{9D8B030D-6E8A-4147-A177-3AD203B41FA5}">
                      <a16:colId xmlns:a16="http://schemas.microsoft.com/office/drawing/2014/main" val="2448458554"/>
                    </a:ext>
                  </a:extLst>
                </a:gridCol>
              </a:tblGrid>
              <a:tr h="556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Operator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Name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Description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Example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665174"/>
                  </a:ext>
                </a:extLst>
              </a:tr>
              <a:tr h="556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&amp; 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AND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Sets each bit to 1 if both bits are 1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x &amp; y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7360969"/>
                  </a:ext>
                </a:extLst>
              </a:tr>
              <a:tr h="556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|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OR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Sets each bit to 1 if one of two bits is 1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x | y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329306"/>
                  </a:ext>
                </a:extLst>
              </a:tr>
              <a:tr h="556566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^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XOR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Sets each bit to 1 if only one of two bits is 1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x ^ y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5811384"/>
                  </a:ext>
                </a:extLst>
              </a:tr>
              <a:tr h="32888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~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NOT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Inverts all the bits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~x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996028"/>
                  </a:ext>
                </a:extLst>
              </a:tr>
              <a:tr h="78425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&lt;&lt;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Zero fill left shift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Shift left by pushing zeros in from the right and let the leftmost bits fall off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x &lt;&lt; 2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2929795"/>
                  </a:ext>
                </a:extLst>
              </a:tr>
              <a:tr h="101193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&gt;&gt;</a:t>
                      </a:r>
                    </a:p>
                  </a:txBody>
                  <a:tcPr marL="101194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Signed right shift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>
                          <a:effectLst/>
                        </a:rPr>
                        <a:t>Shift right by pushing copies of the leftmost bit in from the left, and let the rightmost bits fall off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500" dirty="0">
                          <a:effectLst/>
                        </a:rPr>
                        <a:t>x &gt;&gt; 2</a:t>
                      </a:r>
                    </a:p>
                  </a:txBody>
                  <a:tcPr marL="50597" marR="50597" marT="50597" marB="5059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2260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9524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2451</Words>
  <Application>Microsoft Office PowerPoint</Application>
  <PresentationFormat>Widescreen</PresentationFormat>
  <Paragraphs>432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Aptos</vt:lpstr>
      <vt:lpstr>Aptos Display</vt:lpstr>
      <vt:lpstr>Arial</vt:lpstr>
      <vt:lpstr>Consolas</vt:lpstr>
      <vt:lpstr>Office Theme</vt:lpstr>
      <vt:lpstr>Python Basics</vt:lpstr>
      <vt:lpstr>Agendas</vt:lpstr>
      <vt:lpstr>Comments</vt:lpstr>
      <vt:lpstr>Variables</vt:lpstr>
      <vt:lpstr>Variable Names</vt:lpstr>
      <vt:lpstr>Python Variables - Assign Multiple Values</vt:lpstr>
      <vt:lpstr>Python Data Types</vt:lpstr>
      <vt:lpstr>PowerPoint Presentation</vt:lpstr>
      <vt:lpstr>Python Numbers</vt:lpstr>
      <vt:lpstr>Python Type Casting</vt:lpstr>
      <vt:lpstr>Python String</vt:lpstr>
      <vt:lpstr>Strings Methods</vt:lpstr>
      <vt:lpstr>String Concatenation</vt:lpstr>
      <vt:lpstr>F-Strings</vt:lpstr>
      <vt:lpstr> Escape Characters</vt:lpstr>
      <vt:lpstr>Other escape characters used in Python</vt:lpstr>
      <vt:lpstr>PowerPoint Presentation</vt:lpstr>
      <vt:lpstr>Slicing Strings</vt:lpstr>
      <vt:lpstr>Python Booleans</vt:lpstr>
      <vt:lpstr>Evaluate Values and Variables</vt:lpstr>
      <vt:lpstr>Python Operators</vt:lpstr>
      <vt:lpstr>Arithmetic Operators</vt:lpstr>
      <vt:lpstr>Assignment Operators</vt:lpstr>
      <vt:lpstr>Comparison Operators</vt:lpstr>
      <vt:lpstr>Logical Operators</vt:lpstr>
      <vt:lpstr>Identity Operators</vt:lpstr>
      <vt:lpstr>Membership Operators</vt:lpstr>
      <vt:lpstr>Bitwise Operators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Lalit Mahato</dc:creator>
  <cp:lastModifiedBy>Lalit Mahato</cp:lastModifiedBy>
  <cp:revision>7</cp:revision>
  <dcterms:created xsi:type="dcterms:W3CDTF">2025-08-13T18:11:26Z</dcterms:created>
  <dcterms:modified xsi:type="dcterms:W3CDTF">2025-08-14T09:11:08Z</dcterms:modified>
</cp:coreProperties>
</file>